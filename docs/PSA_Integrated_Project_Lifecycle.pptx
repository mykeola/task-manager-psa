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raw.githubusercontent.com/danrodgar/MIERatio/master/datasets/china.arff" TargetMode="External"/><Relationship Id="rId3" Type="http://schemas.openxmlformats.org/officeDocument/2006/relationships/hyperlink" Target="https://zenodo.org/records/268485" TargetMode="External"/><Relationship Id="rId4" Type="http://schemas.openxmlformats.org/officeDocument/2006/relationships/hyperlink" Target="http://promise.site.uottawa.ca/SERepository/datasets/desharnais.arff" TargetMode="External"/><Relationship Id="rId5" Type="http://schemas.openxmlformats.org/officeDocument/2006/relationships/hyperlink" Target="https://www.standishgroup.com/chaos-research" TargetMode="External"/><Relationship Id="rId6" Type="http://schemas.openxmlformats.org/officeDocument/2006/relationships/hyperlink" Target="https://owasp.org/API-Security/editions/2023/en/0xa1-broken-object-level-authorization/" TargetMode="External"/><Relationship Id="rId7" Type="http://schemas.openxmlformats.org/officeDocument/2006/relationships/hyperlink" Target="https://iso25000.com/index.php/en/iso-25000-standards/iso-25010" TargetMode="External"/><Relationship Id="rId8" Type="http://schemas.openxmlformats.org/officeDocument/2006/relationships/hyperlink" Target="https://ieeexplore.ieee.org/document/1702540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05840"/>
            <a:ext cx="9997135" cy="4846320"/>
          </a:xfrm>
          <a:prstGeom prst="roundRect">
            <a:avLst/>
          </a:prstGeom>
          <a:solidFill>
            <a:srgbClr val="141D2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200" b="1">
                <a:solidFill>
                  <a:srgbClr val="38BDF8"/>
                </a:solidFill>
              </a:defRPr>
            </a:pPr>
            <a:r>
              <a:t>PROJECT ASSESSMENT (PSA) — INTEGRATED LIFECYCLE DEFENSE</a:t>
            </a:r>
          </a:p>
          <a:p>
            <a:pPr algn="ctr">
              <a:spcAft>
                <a:spcPts val="1200"/>
              </a:spcAft>
              <a:defRPr sz="2700" b="1">
                <a:solidFill>
                  <a:srgbClr val="F8FAFC"/>
                </a:solidFill>
              </a:defRPr>
            </a:pPr>
            <a:r>
              <a:t>AI-Driven Software Schedule Prediction &amp;</a:t>
            </a:r>
            <a:br/>
            <a:r>
              <a:t>Multi-Tenant Task Management SaaS</a:t>
            </a:r>
          </a:p>
          <a:p>
            <a:pPr algn="ctr">
              <a:spcAft>
                <a:spcPts val="2200"/>
              </a:spcAft>
              <a:defRPr sz="1250">
                <a:solidFill>
                  <a:srgbClr val="94A3B8"/>
                </a:solidFill>
              </a:defRPr>
            </a:pPr>
            <a:r>
              <a:t>Comprehensive Implementation of the 19 Required Integrated Project Lifecycle Stages:</a:t>
            </a:r>
            <a:br/>
            <a:r>
              <a:t>Software Project Management (SPM), Artificial Intelligence (AI/ML), and Cybersecurity</a:t>
            </a:r>
          </a:p>
          <a:p>
            <a:pPr algn="ctr">
              <a:defRPr sz="1100">
                <a:solidFill>
                  <a:srgbClr val="6366F1"/>
                </a:solidFill>
              </a:defRPr>
            </a:pPr>
            <a:r>
              <a:t>Academic Supervisors: Mr. Igila Solomon (Lecturer) &amp; Mr. Ibrahim I.A.</a:t>
            </a:r>
            <a:br/>
            <a:r>
              <a:t>Semester Seven | Department of Computer Science &amp; Software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389120" cy="32004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REQUIRED INTEGRATED PROJECT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Executive Summary &amp; Academic Mandate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Semester 7 PSA | AI Schedule Prediction &amp; Task Management SaaS | Supervisors: Mr. Igila Solomon &amp; Mr. Ibrahim I.A.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250" b="1">
                <a:solidFill>
                  <a:srgbClr val="6366F1"/>
                </a:solidFill>
              </a:defRPr>
            </a:pPr>
            <a:r>
              <a:t>1. PSA Problem Statement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Assigned Topic: Machine-learning based software schedule prediction.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Core Problem: Software project schedule slippage causes catastrophic financial and operational damage.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Mandate: Develop a predictive model estimating whether a software project will conclude within its planned schedule.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Integration: Apply software project management principles to plan, control, secure, test, document, and evaluate the system.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250" b="1">
                <a:solidFill>
                  <a:srgbClr val="38BDF8"/>
                </a:solidFill>
              </a:defRPr>
            </a:pPr>
            <a:r>
              <a:t>2. Tri-Pillar Architecture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SPM Pillar: WBS, Critical Path Method (CPM), PERT, 5x5 risk matrix, EVM monitoring, and quality review gatekeeping.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AI/ML Pillar: China dataset (N=499) schedule classifier + Desharnais (N=81) task effort regressor + 10,000 Monte Carlo runs.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Cybersecurity Pillar: Pooled multi-tenancy, strict IDOR prevention, tenant-scoped queries, and RBAC quality governance.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250" b="1">
                <a:solidFill>
                  <a:srgbClr val="10B981"/>
                </a:solidFill>
              </a:defRPr>
            </a:pPr>
            <a:r>
              <a:t>3. Key Verification Results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Next.js 16 Client: Interactive Kanban, Manager What-If simulator, and Engineer 'My Tasks' workspace.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Backend &amp; Security: 16/16 Jest integration tests passed (100% pass rate).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FastAPI ML Microservice: 11/11 Pytest tests passed (100% pass rate).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Production Build: 0 compile errors across all 10 application routes.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389120" cy="32004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REQUIRED INTEGRATED PROJECT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1. Project Initiation &amp; Business Justification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Semester 7 PSA | AI Schedule Prediction &amp; Task Management SaaS | Supervisors: Mr. Igila Solomon &amp; Mr. Ibrahim I.A.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250" b="1">
                <a:solidFill>
                  <a:srgbClr val="38BDF8"/>
                </a:solidFill>
              </a:defRPr>
            </a:pPr>
            <a:r>
              <a:t>Project Charter &amp; Initiation Context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Project Title: Multi-Tenant Task Management SaaS with Predictive AI Scheduling.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Trigger Event: Industry surveys (Standish Group CHAOS Report) demonstrate that over 66% of software projects exceed their planned schedule and budget.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Primary Objective: Provide engineering leadership with empirical, machine-learning-calibrated schedule adherence predictions to eliminate subjective estimation bias.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Business Case: Enabling early detection of schedule deficit allows project managers to proactively de-scope, negotiate delivery timelines, or allocate developer capacity.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250" b="1">
                <a:solidFill>
                  <a:srgbClr val="10B981"/>
                </a:solidFill>
              </a:defRPr>
            </a:pPr>
            <a:r>
              <a:t>Strategic Value &amp; Academic Alignment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Financial Protection: Mitigates breach-of-contract penalties, runaway contractor costs, and client turnover.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Operational Resilience: Replaces gut-feel milestone planning with statistical confidence percentiles (P50, P85, P95).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Academic Justification: Fulfills the exact PSA syllabus by demonstrating how artificial intelligence directly reinforces software engineering management and cybersecurity.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Governance Baseline: Approved via formal Project Charter defining business scope, constraints, and stakeholder roles.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389120" cy="32004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REQUIRED INTEGRATED PROJECT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2. Stakeholder Identification &amp; Governance RACI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Semester 7 PSA | AI Schedule Prediction &amp; Task Management SaaS | Supervisors: Mr. Igila Solomon &amp; Mr. Ibrahim I.A.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250" b="1">
                <a:solidFill>
                  <a:srgbClr val="6366F1"/>
                </a:solidFill>
              </a:defRPr>
            </a:pPr>
            <a:r>
              <a:t>Stakeholder Hierarchy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Platform SuperAdmin: Oversees multi-tenant ecosystem health, tenant provisioning, audit logs, and account suspension.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Organization Admin: Manages organization workspaces, teams, billing plan, and member invitations.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Project Manager: Establishes project deadlines, story point budgets, runs ML simulations, and approves tasks in review.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Software Engineer (Member): Executes work, logs progress, and submits deliverables for quality review.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70408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250" b="1">
                <a:solidFill>
                  <a:srgbClr val="38BDF8"/>
                </a:solidFill>
              </a:defRPr>
            </a:pPr>
            <a:r>
              <a:t>RACI Governance Allocation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Project Initiation &amp; Budgeting: Org Admin (Accountable), PM (Responsible), SuperAdmin (Informed).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Task Story Point &amp; Complexity Sizing: Project Manager (Accountable), Engineer (Consulted/Responsible).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ML Schedule Simulation &amp; Target Sizing: Project Manager (Accountable/Responsible), Engineer (Informed).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Task Execution &amp; Review Submission: Engineer (Responsible), Project Manager (Accountable for approval).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Tenant Data Boundary &amp; Isolation Enforcement: Backend Gateway Middleware (Automated Invariant).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External Academic Review: Course Lecturers Mr. Igila Solomon &amp; Mr. Ibrahim I.A. (Stakeholder Governance).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389120" cy="32004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REQUIRED INTEGRATED PROJECT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3. Requirements Engineering: Functional, Non-Functional &amp;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Semester 7 PSA | AI Schedule Prediction &amp; Task Management SaaS | Supervisors: Mr. Igila Solomon &amp; Mr. Ibrahim I.A.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250" b="1">
                <a:solidFill>
                  <a:srgbClr val="38BDF8"/>
                </a:solidFill>
              </a:defRPr>
            </a:pPr>
            <a:r>
              <a:t>Functional Requirements (FR)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FR-1: Multi-tenant organization registration, authentication, and dynamic workspace switching.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FR-2: Kanban board with status lifecycle: Backlog -&gt; Todo -&gt; In Progress -&gt; Review -&gt; Done.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FR-3: ML-driven task duration estimation (Desharnais model) based on story points &amp; complexity.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FR-4: Empirical project schedule adherence verdict (China model N=499) + delay probability.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FR-5: Stochastic Monte Carlo throughput simulation (10,000 iterations for P50, P85, P95 dates).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FR-6: Interactive What-If schedule target simulator with instant visual comparison.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250" b="1">
                <a:solidFill>
                  <a:srgbClr val="10B981"/>
                </a:solidFill>
              </a:defRPr>
            </a:pPr>
            <a:r>
              <a:t>Non-Functional Requirements (NFR)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NFR-1 (Performance): ML inference latency &lt; 250ms; Monte Carlo 10,000 runs &lt; 500ms.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NFR-2 (Reliability): 99.9% uptime; resilient offline heuristic fallbacks if ML service is unreachable.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NFR-3 (Scalability): Decoupled microservice architecture supporting independent horizontal auto-scaling.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NFR-4 (Usability): Modern dark-themed responsive UI with zero compile errors across all routes.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NFR-5 (Auditability): Tamper-evident AuditLog recording all administrative actions.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250" b="1">
                <a:solidFill>
                  <a:srgbClr val="F43F5E"/>
                </a:solidFill>
              </a:defRPr>
            </a:pPr>
            <a:r>
              <a:t>Security Invariants (SEC)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SEC-1 (Zero IDOR): Strict tenant isolation via withTenantScope query wrapper; user organization derived strictly from verified JWT.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SEC-2 (Sanitization): express-mongo-sanitize neutralizing NoSQL injection ($gt, $ne operator injection).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SEC-3 (Private RPC): Internal microservice endpoints gated by cryptographic X-Internal-Token header.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SEC-4 (Quality Gatekeeping): Members strictly prohibited from marking tasks as completed (403 Forbidden).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389120" cy="32004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REQUIRED INTEGRATED PROJECT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4. Scope Definition &amp; Work Breakdown Structure (WBS)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Semester 7 PSA | AI Schedule Prediction &amp; Task Management SaaS | Supervisors: Mr. Igila Solomon &amp; Mr. Ibrahim I.A.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250" b="1">
                <a:solidFill>
                  <a:srgbClr val="6366F1"/>
                </a:solidFill>
              </a:defRPr>
            </a:pPr>
            <a:r>
              <a:t>WBS 100% Rule Decomposition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WP 1.0 Project Management &amp; Governance: Initiation, charter, stakeholder RACI, and PERT schedule.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WP 2.0 Machine Learning Microservice Tier: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• 2.1 Desharnais dataset ingestion &amp; DecisionTree effort training.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• 2.2 China benchmarking dataset (N=499) schedule classifier &amp; regressor.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• 2.3 Vectorized NumPy Monte Carlo stochastic throughput simulator.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• 2.4 FastAPI RPC endpoints with Pydantic validation &amp; internal token security.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WP 3.0 Multi-Tenant Backend Gateway Tier: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• 3.1 MongoDB discriminator-key pooled multi-tenant collections.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• 3.2 JWT authentication, bcrypt password hashing &amp; multi-organization switching.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• 3.3 Tenant-scoping middleware (tenantScope.js) &amp; audit logging.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250" b="1">
                <a:solidFill>
                  <a:srgbClr val="38BDF8"/>
                </a:solidFill>
              </a:defRPr>
            </a:pPr>
            <a:r>
              <a:t>WBS Execution Packages (Continued)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WP 4.0 Frontend Client Application Tier: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• 4.1 Next.js 16 App Router architecture with Tailwind CSS dark theme.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• 4.2 Interactive Kanban board with drag/select status transitions.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• 4.3 Schedule Adherence Verdict Card with Explainable AI (XAI) risk drivers.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• 4.4 Interactive What-If Schedule Target Stepper &amp; live comparison.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• 4.5 Dedicated Engineer 'My Tasks' workspace with expected deadlines.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WP 5.0 Software Quality Assurance &amp; Security: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• 5.1 Jest/Supertest backend integration suite (16/16 tests passing).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• 5.2 Pytest ML microservice test suite (11/11 tests passing).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WP 6.0 Evaluation, Documentation &amp; Defense: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• 6.1 8 complete markdown artifacts in /docs + PowerPoint defense slides.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389120" cy="32004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REQUIRED INTEGRATED PROJECT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5. Resource Planning &amp; Responsibility 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Semester 7 PSA | AI Schedule Prediction &amp; Task Management SaaS | Supervisors: Mr. Igila Solomon &amp; Mr. Ibrahim I.A.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250" b="1">
                <a:solidFill>
                  <a:srgbClr val="6366F1"/>
                </a:solidFill>
              </a:defRPr>
            </a:pPr>
            <a:r>
              <a:t>Resource Allocations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Lead Architect &amp; Full-Stack Developer: System design, multi-tenant Express backend, Next.js UI.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Machine Learning Engineer: Data preprocessing, model training, hyperparameter tuning, FastAPI.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Cybersecurity Specialist: Threat modeling, IDOR mitigation, JWT implementation, automated tests.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Software Project Manager: WBS, PERT scheduling, RACI matrix, quality plan, stakeholder reporting.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250" b="1">
                <a:solidFill>
                  <a:srgbClr val="F59E0B"/>
                </a:solidFill>
              </a:defRPr>
            </a:pPr>
            <a:r>
              <a:t>Team Capacity Constraints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Empirical Discovery: China dataset analysis reveals team size is a critical determinant of calendar duration.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Brooks's Law Scaling: Adding developers creates sublinear speedup due to communication overhead: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Scaling Factor = (TeamSize / 2.5)^0.45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Bottleneck Rule: Backlog &gt; 40 story points with &lt;= 2 developers triggers automated XAI warning in the 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250" b="1">
                <a:solidFill>
                  <a:srgbClr val="10B981"/>
                </a:solidFill>
              </a:defRPr>
            </a:pPr>
            <a:r>
              <a:t>Responsibility Assignment (RAM)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Backend &amp; Database Isolation: Lead Architect (Primary), Security Specialist (Reviewer).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AI/ML Pipelines &amp; Models: ML Engineer (Primary), Lead Architect (Reviewer).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Frontend &amp; Interactive What-If: Lead Architect (Primary), PM (Acceptance).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Quality Gatekeeping Governance: PM (Sign-off), All Team Members (Adherence).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389120" cy="32004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REQUIRED INTEGRATED PROJECT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6. Effort &amp; Cost Estimation: Desharnais Model &amp; COCOMO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Semester 7 PSA | AI Schedule Prediction &amp; Task Management SaaS | Supervisors: Mr. Igila Solomon &amp; Mr. Ibrahim I.A.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250" b="1">
                <a:solidFill>
                  <a:srgbClr val="38BDF8"/>
                </a:solidFill>
              </a:defRPr>
            </a:pPr>
            <a:r>
              <a:t>Empirical Task Effort Model (Desharnais N=81)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Dataset: Canonical Desharnais Software Project dataset from the PROMISE repository (81 historical commercial projects).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Features Extracted: Team experience, Manager experience, Transactions, Entities, Complexity adjustment, and Story Points.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Algorithm: DecisionTreeRegressor with feature preprocessing pipeline.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Model Evaluation Metrics: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• Mean Magnitude of Relative Error (MMRE): 40.7%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• Median Magnitude of Relative Error (MdMRE): 30.8%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• Prediction at 25% (PRED(25)): 47.1%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Live Inference: Embedded directly into the task modal as managers size story points.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250" b="1">
                <a:solidFill>
                  <a:srgbClr val="10B981"/>
                </a:solidFill>
              </a:defRPr>
            </a:pPr>
            <a:r>
              <a:t>COCOMO II &amp; Function Point Mapping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Agile Story Point to Function Point Conversion: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Adjusted Function Points (AFP) = StoryPoints * ComplexityMultiplier * 4.0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Complexity Multipliers: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• Low Complexity: 0.75 multiplier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• Medium Complexity: 1.0 multiplier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• High Complexity: 1.45 multiplier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Cost Estimation Formulation: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Total Effort (Person-Hours) = Sum of Predicted Task Durations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Total Project Cost = Person-Hours * Blended Hourly Rate ($65/hr)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Contingency Reserve: 15% budget buffer allocated based on schedule risk tier.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389120" cy="32004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REQUIRED INTEGRATED PROJECT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7. Scheduling, Milestones &amp; Critical Path Method (CPM / PERT)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Semester 7 PSA | AI Schedule Prediction &amp; Task Management SaaS | Supervisors: Mr. Igila Solomon &amp; Mr. Ibrahim I.A.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250" b="1">
                <a:solidFill>
                  <a:srgbClr val="F59E0B"/>
                </a:solidFill>
              </a:defRPr>
            </a:pPr>
            <a:r>
              <a:t>PERT Weighted Duration Formulation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Three-Point Estimation Applied: Optimistic (O), Most Likely (M), Pessimistic (P):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Expected Duration Te = (O + 4M + P) / 6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Variance = ((P - O) / 6)^2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Critical Path Analysis (CPM):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Path 1: Model Training -&gt; ML Service -&gt; Backend API -&gt; Frontend Integration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Total Critical Path Duration: 18 Working Days (Zero Slack).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Near-Critical Path: Multi-Tenant Security &amp; Jest Suites (16 Working Days, 2 Days Slack).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Schedule Buffer: 3-day project buffer inserted before final evaluation defense.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250" b="1">
                <a:solidFill>
                  <a:srgbClr val="10B981"/>
                </a:solidFill>
              </a:defRPr>
            </a:pPr>
            <a:r>
              <a:t>Major Project Milestones &amp; Gantt Timeline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M1 (Day 3): Dataset ingestion &amp; dual ML model training complete.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M2 (Day 6): FastAPI ML microservice validated with 11 Pytest tests.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M3 (Day 11): Multi-tenant Node.js backend &amp; security invariants verified.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M4 (Day 15): Next.js frontend, Kanban, and What-If simulator compiled.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M5 (Day 18): End-to-end integration, 16 Jest tests passed (100% rate).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M6 (Day 20): Documentation repo &amp; academic defense presentation finalized.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389120" cy="32004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REQUIRED INTEGRATED PROJECT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8. Risk Management, 5x5 Matrix &amp; Mitigation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Semester 7 PSA | AI Schedule Prediction &amp; Task Management SaaS | Supervisors: Mr. Igila Solomon &amp; Mr. Ibrahim I.A.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250" b="1">
                <a:solidFill>
                  <a:srgbClr val="F43F5E"/>
                </a:solidFill>
              </a:defRPr>
            </a:pPr>
            <a:r>
              <a:t>Top Identified Risks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R-01 (IDOR Vulnerability): Cross-tenant data leakage via forged request parameters.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R-02 (ML Hallucination / Drift): Prediction inaccuracy on uncharacteristic project scopes.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R-03 (Schedule Overrun): Aggressive project deadlines exceeding developer throughput.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R-04 (Quality Regression): Unauthorized self-completion of tasks by engineers.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250" b="1">
                <a:solidFill>
                  <a:srgbClr val="F59E0B"/>
                </a:solidFill>
              </a:defRPr>
            </a:pPr>
            <a:r>
              <a:t>5x5 Qualitative Matrix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R-01 (IDOR): Impact 5 (Catastrophic) x Likelihood 1 (Rare with controls) = Low Risk.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R-02 (ML Drift): Impact 3 (Moderate) x Likelihood 3 (Possible) = Medium Risk.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R-03 (Schedule Overrun): Impact 4 (Major) x Likelihood 4 (Likely) = High Risk.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R-04 (Quality Regression): Impact 3 (Moderate) x Likelihood 2 (Unlikely) = Low Risk.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250" b="1">
                <a:solidFill>
                  <a:srgbClr val="10B981"/>
                </a:solidFill>
              </a:defRPr>
            </a:pPr>
            <a:r>
              <a:t>Architectural Mitigations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Mitigation 1 (Zero-Trust IDOR): Enforce withTenantScope and JWT-derived tenant context exclusively.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Mitigation 2 (Hybrid ML): Combine China Random Forest with deterministic Putnam fallbacks and confidence ranges.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Mitigation 3 (Monte Carlo + What-If): 10,000 stochastic runs and manager target simulator to identify deficits.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Mitigation 4 (RBAC Gatekeeping): Strict 403 Forbidden enforcement on members moving tasks to done.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389120" cy="32004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REQUIRED INTEGRATED PROJECT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9. Quality Assurance &amp; Software Quality Control (QA/QC)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Semester 7 PSA | AI Schedule Prediction &amp; Task Management SaaS | Supervisors: Mr. Igila Solomon &amp; Mr. Ibrahim I.A.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250" b="1">
                <a:solidFill>
                  <a:srgbClr val="6366F1"/>
                </a:solidFill>
              </a:defRPr>
            </a:pPr>
            <a:r>
              <a:t>Quality Assurance Standards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SQA Framework: ISO/IEC 25010 Software Product Quality Model.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Functional Suitability: Strict validation that all 6 core functional workflows operate reliably.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Maintainability: Decoupled modular architecture with strict PSR/ESLint coding guidelines.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Definition of Done (DoD): Code passes static analysis, zero TypeScript/Next.js build errors, and 100% automated test pass rate.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250" b="1">
                <a:solidFill>
                  <a:srgbClr val="38BDF8"/>
                </a:solidFill>
              </a:defRPr>
            </a:pPr>
            <a:r>
              <a:t>Automated Testing Verification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Backend Test Suite (Jest + Supertest):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• 16 / 16 Tests Passing (100% Pass Rate).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• 6 Multi-tenant security &amp; IDOR invariants.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• 7 Authentication, RBAC, and quality review tests.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• 3 ML client communication tests.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ML Microservice Suite (Pytest):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• 11 / 11 Tests Passing (100% Pass Rate).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250" b="1">
                <a:solidFill>
                  <a:srgbClr val="10B981"/>
                </a:solidFill>
              </a:defRPr>
            </a:pPr>
            <a:r>
              <a:t>Quality Control Gates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Production Build Validation: Next.js 16 compiled cleanly with 0 errors across all 10 application routes.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Quality Review Gatekeeping: Mandatory peer/manager review transition before deliverables reach completion.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Audit Log QC: Every administrative and cross-tenant action logged with actor ID, IP address, and timestamp.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389120" cy="32004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REQUIRED INTEGRATED PROJECT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10. Agile/Scrum Development Approach &amp; Sprint Cadence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Semester 7 PSA | AI Schedule Prediction &amp; Task Management SaaS | Supervisors: Mr. Igila Solomon &amp; Mr. Ibrahim I.A.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250" b="1">
                <a:solidFill>
                  <a:srgbClr val="38BDF8"/>
                </a:solidFill>
              </a:defRPr>
            </a:pPr>
            <a:r>
              <a:t>Agile Justification &amp; Sprint Structure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Framework Adopted: Agile Scrum with Kanban workflow visualization.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Justification: Machine learning and SaaS architectures require rapid empirical feedback loops and iterative refinement.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Sprint Cadence: 2-Week Sprints (4 Sprints total):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• Sprint 1: ML model training, benchmarking, and FastAPI service.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• Sprint 2: Multi-tenant backend, authentication, and security invariants.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• Sprint 3: Next.js frontend, Kanban board, and What-If simulator.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• Sprint 4: Review gatekeeping, multi-org switching, and defense documentation.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250" b="1">
                <a:solidFill>
                  <a:srgbClr val="10B981"/>
                </a:solidFill>
              </a:defRPr>
            </a:pPr>
            <a:r>
              <a:t>Scrum Ceremonies &amp; Kanban Workflow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Sprint Planning: Sizing user stories using Fibonacci sequence (1, 2, 3, 5, 8, 13 story points).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Daily Standup: Monitoring WIP (Work In Progress) and identifying critical path blockers.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Sprint Review &amp; Demo: Testing online ML duration estimates and What-If adherence verdicts.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Sprint Retrospective: Continuous refinement of velocity estimates.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Kanban WIP Limits: Maximum 4 tasks per developer in 'In Progress' to prevent multitasking context switching.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389120" cy="32004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REQUIRED INTEGRATED PROJECT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11. Secure Software Development Life Cycle (Secure SDLC)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Semester 7 PSA | AI Schedule Prediction &amp; Task Management SaaS | Supervisors: Mr. Igila Solomon &amp; Mr. Ibrahim I.A.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250" b="1">
                <a:solidFill>
                  <a:srgbClr val="6366F1"/>
                </a:solidFill>
              </a:defRPr>
            </a:pPr>
            <a:r>
              <a:t>Requirements &amp; Design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Security Requirements: Multi-tenant data segregation, zero cross-tenant IDOR, and role-based gatekeeping.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Threat Modeling: Early STRIDE analysis identifying spoofing, tampering, and elevation of privilege vectors.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Architecture Isolation: Isolating ML microservice on a private network, denying direct DB access.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250" b="1">
                <a:solidFill>
                  <a:srgbClr val="38BDF8"/>
                </a:solidFill>
              </a:defRPr>
            </a:pPr>
            <a:r>
              <a:t>Development &amp; Coding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Defense-in-Depth Scoping: Programmatic withTenantScope wrapper on all database operations.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Input Sanitization: Parameter whitelisting and NoSQL operator stripping ($gt, $ne, $where).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Cryptographic Defense: Bcrypt password hashing (10 salt rounds) and short-lived JWT access tokens.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250" b="1">
                <a:solidFill>
                  <a:srgbClr val="10B981"/>
                </a:solidFill>
              </a:defRPr>
            </a:pPr>
            <a:r>
              <a:t>Testing &amp; Operations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Automated Security Invariants: 6 automated Jest security tests verifying IDOR rejections.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Quality Gatekeeping: Code review enforcement at the software tier preventing unauthorized task closure.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Auditability: Platform-wide immutable audit trail for governance compliance.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389120" cy="32004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REQUIRED INTEGRATED PROJECT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12. Threat Modeling &amp; Security Risk Assessment (STRIDE &amp; IDOR)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Semester 7 PSA | AI Schedule Prediction &amp; Task Management SaaS | Supervisors: Mr. Igila Solomon &amp; Mr. Ibrahim I.A.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250" b="1">
                <a:solidFill>
                  <a:srgbClr val="F43F5E"/>
                </a:solidFill>
              </a:defRPr>
            </a:pPr>
            <a:r>
              <a:t>STRIDE Threat Vector Analysis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Spoofing: Attacker forges identity -&gt; Mitigated by cryptographically signed JWT tokens with expiration.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Tampering: Malicious parameter injection -&gt; Mitigated by request body sanitization and Mongoose schema casting.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Repudiation: User denies performing sensitive action -&gt; Mitigated by immutable AuditLog events.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Information Disclosure: Cross-tenant data leakage -&gt; Mitigated by strict withTenantScope filters.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Denial of Service: Endpoint flooding -&gt; Mitigated by express-rate-limit auth and API limiters.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Elevation of Privilege: Member acts as Admin -&gt; Mitigated by strict RBAC middleware.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250" b="1">
                <a:solidFill>
                  <a:srgbClr val="10B981"/>
                </a:solidFill>
              </a:defRPr>
            </a:pPr>
            <a:r>
              <a:t>Multi-Tenant IDOR Attack Defense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Vulnerability Vector: Attacker changes ?organizationId=victimId in request query or body.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Traditional Vulnerability: Applications trusting client-supplied tenant parameters suffer IDOR breaches.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Implemented Architectural Defense: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1. Client-supplied organization parameters are completely stripped for non-superadmins.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2. req.user.organization is extracted strictly from the verified JWT server-side session.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3. withTenantScope ensures every Mongoose query explicitly appends { organization: verifiedOrgId }.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Automated Verification: 100% verified in tests/security.test.js.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389120" cy="32004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REQUIRED INTEGRATED PROJECT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13. System Architecture &amp; Dual-Tier AI/ML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Semester 7 PSA | AI Schedule Prediction &amp; Task Management SaaS | Supervisors: Mr. Igila Solomon &amp; Mr. Ibrahim I.A.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250" b="1">
                <a:solidFill>
                  <a:srgbClr val="6366F1"/>
                </a:solidFill>
              </a:defRPr>
            </a:pPr>
            <a:r>
              <a:t>Tier 1: Client Tier (Presentation)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Next.js 16 App Router (Turbopack).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Tailwind CSS with executive dark aesthetic.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Interactive Kanban board with live status transitions.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AI Schedule Adherence Card &amp; What-If Analyzer.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Engineer 'My Tasks' Workspace with deadline tracking.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Workspace Switcher dropdown in navigation header.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250" b="1">
                <a:solidFill>
                  <a:srgbClr val="38BDF8"/>
                </a:solidFill>
              </a:defRPr>
            </a:pPr>
            <a:r>
              <a:t>Tier 2: API Gateway &amp; Security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Node.js Express REST API (ESM Modules).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MongoDB 7 with Mongoose ODM pooled collections.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JWT Authentication &amp; RBAC Middleware.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tenantScope.js Defense-in-Depth Isolation.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Immutable AuditLog service recording security events.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Private RPC proxy invoking internal ML service.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250" b="1">
                <a:solidFill>
                  <a:srgbClr val="10B981"/>
                </a:solidFill>
              </a:defRPr>
            </a:pPr>
            <a:r>
              <a:t>Tier 3: Python ML Microservice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Python 3.11 FastAPI asynchronous service.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Desharnais DecisionTree effort regressor.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China Benchmark (N=499) schedule delay classifier.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China Benchmark duration regressor (months &amp; weeks).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10,000-iteration stochastic Monte Carlo simulator.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Secured via private network + X-Internal-Token.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389120" cy="32004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REQUIRED INTEGRATED PROJECT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14. Implementation &amp; Full-Stack 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Semester 7 PSA | AI Schedule Prediction &amp; Task Management SaaS | Supervisors: Mr. Igila Solomon &amp; Mr. Ibrahim I.A.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250" b="1">
                <a:solidFill>
                  <a:srgbClr val="38BDF8"/>
                </a:solidFill>
              </a:defRPr>
            </a:pPr>
            <a:r>
              <a:t>Core Technologies &amp; Rationale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Frontend: Next.js 16 App Router, React 19, Tailwind CSS, Lucide Icons.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• Rationale: Server-side rendering, snappy client navigation, and modern dark UI.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Backend: Node.js Express 4, Mongoose 8, Helmet, Mongo-Sanitize, CORS.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• Rationale: High-concurrency asynchronous I/O, robust middleware ecosystem.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Database: MongoDB 7 Multi-Tenant Pooled Collections with compound indexes.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• Rationale: Flexible JSON document model with high-throughput indexing.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ML Frameworks: Python 3.11, FastAPI, scikit-learn, joblib, NumPy, pandas.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• Rationale: Industry-standard scientific libraries with sub-second inference.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250" b="1">
                <a:solidFill>
                  <a:srgbClr val="10B981"/>
                </a:solidFill>
              </a:defRPr>
            </a:pPr>
            <a:r>
              <a:t>Software Engineering Principles Applied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Thin Controllers, Fat Services: Controllers handle HTTP serialization; business logic encapsulated in dedicated services.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Defense-in-Depth: Data isolation enforced at routing, controller, and query helper levels.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Fail-Safe Defaults: If Python ML service experiences network partition, backend automatically falls back to Putnam heuristics without service failure.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Clean Code: Adheres to PSR/ESLint standards, strict typing, and zero lint warnings.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389120" cy="32004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REQUIRED INTEGRATED PROJECT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15. Comprehensive Testing Hierarchy &amp; Verification (100% Pass Rate)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Semester 7 PSA | AI Schedule Prediction &amp; Task Management SaaS | Supervisors: Mr. Igila Solomon &amp; Mr. Ibrahim I.A.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250" b="1">
                <a:solidFill>
                  <a:srgbClr val="6366F1"/>
                </a:solidFill>
              </a:defRPr>
            </a:pPr>
            <a:r>
              <a:t>1. Unit &amp; Pytest ML Tests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11 / 11 Pytest Tests Passed (100%).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Validates task duration regression ranges.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Validates Monte Carlo stochastic distributions.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Validates China model schedule adherence verdicts (On-Time vs Delayed).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Validates internal token authentication.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250" b="1">
                <a:solidFill>
                  <a:srgbClr val="38BDF8"/>
                </a:solidFill>
              </a:defRPr>
            </a:pPr>
            <a:r>
              <a:t>2. Backend &amp; Security Tests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16 / 16 Jest Tests Passed (100%).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Security Invariant 1: IDOR cross-tenant read rejected.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Security Invariant 2: Org ID parameter injection stripped.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Security Invariant 3: Tenant task collection boundary enforced.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Security Invariant 4: Cross-tenant project deletion blocked.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Security Invariant 5: SuperAdmin access audit logged.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Security Invariant 6: NoSQL operator injection neutralized.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250" b="1">
                <a:solidFill>
                  <a:srgbClr val="10B981"/>
                </a:solidFill>
              </a:defRPr>
            </a:pPr>
            <a:r>
              <a:t>3. RBAC &amp; Quality Gatekeeping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Self-service registration &amp; org creation: PASS.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Suspended tenant lockout (403): PASS.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Member moving task to done blocked (403 Forbidden Quality Gatekeeping): PASS.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Manager approving task to done (200 OK): PASS.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Multi-org workspace creation &amp; switching: PASS.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Next.js 16 Production Build: 0 errors across 10 routes.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389120" cy="32004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REQUIRED INTEGRATED PROJECT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16. AI/ML Model Evaluation &amp; Empirical Benchmark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Semester 7 PSA | AI Schedule Prediction &amp; Task Management SaaS | Supervisors: Mr. Igila Solomon &amp; Mr. Ibrahim I.A.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250" b="1">
                <a:solidFill>
                  <a:srgbClr val="6366F1"/>
                </a:solidFill>
              </a:defRPr>
            </a:pPr>
            <a:r>
              <a:t>China Dataset (N=499) Schedule Classifier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Exact Problem: 'Estimating whether a software project will be completed within its planned schedule.'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Dataset: 499 commercial software engineering projects from PROMISE repository.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Algorithms Evaluated: Random Forest, Decision Tree, Logistic Regression, Linear Regression.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Winning Model: RandomForestClassifier + RandomForestRegressor.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Evaluation Metrics: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• Classification Accuracy: 84.6%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• F1-Score: 0.83 | ROC-AUC: 0.89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• Regressor MdMRE: 28.4% | PRED(25): 52.3%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Explainable AI (XAI): Identifies top delay drivers (scope creep, team bottleneck, complexity index).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250" b="1">
                <a:solidFill>
                  <a:srgbClr val="10B981"/>
                </a:solidFill>
              </a:defRPr>
            </a:pPr>
            <a:r>
              <a:t>Zenodo ISBSG Open Benchmark Defense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Supervisor / Defense Context: The prompt specifies ISBSG dataset usage.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Empirical Investigation: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• Full commercial ISBSG database is proprietary and costs $3,000+ directly from isbsg.org.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• Downloaded official open ISBSG Release 10 teaser from Zenodo (DOI: 10.5281/zenodo.268485).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• Discovered that open teaser contains only 12 complete entries with duration data (statistically inadequate).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Academic Defense: Adopted the canonical China Software Benchmarking Dataset (N=499), standard in IEEE/ACM software effort estimation literature.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Documented: Fully analyzed in docs/model-evaluation.md.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389120" cy="32004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REQUIRED INTEGRATED PROJECT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17. Deployment, Monitoring &amp; Project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Semester 7 PSA | AI Schedule Prediction &amp; Task Management SaaS | Supervisors: Mr. Igila Solomon &amp; Mr. Ibrahim I.A.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250" b="1">
                <a:solidFill>
                  <a:srgbClr val="6366F1"/>
                </a:solidFill>
              </a:defRPr>
            </a:pPr>
            <a:r>
              <a:t>Deployment Topology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Containerized Microservice Architecture: Independent Docker containers for Frontend, API Gateway, and Python ML.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Reverse Proxy &amp; SSL: Nginx handling TLS 1.3 termination, rate-limiting, and CORS preflight headers.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Process Management: Uvicorn ASGI workers for FastAPI; Node.js clustering for Express API gateway.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Local Development Ports: Next.js (Port 3000), Express (Port 5000), FastAPI ML (Port 8000), MongoDB (Port 27017).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250" b="1">
                <a:solidFill>
                  <a:srgbClr val="38BDF8"/>
                </a:solidFill>
              </a:defRPr>
            </a:pPr>
            <a:r>
              <a:t>Telemetry &amp; Health Monitoring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Health Probe Endpoints: GET /health on ML microservice returns real-time status and loaded model artifacts.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Connection Pool Monitoring: MongoDB connection heartbeat and query latency tracking.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Inference Audit Logging: Every prediction logged to PredictionLog with input features and confidence ranges.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Error Boundary Instrumentation: Graceful degradation handling network drops between backend and ML engine.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250" b="1">
                <a:solidFill>
                  <a:srgbClr val="10B981"/>
                </a:solidFill>
              </a:defRPr>
            </a:pPr>
            <a:r>
              <a:t>Project Control &amp; Variance Tracking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Earned Value Management (EVM):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• Schedule Variance (SV) = Earned Value (EV) - Planned Value (PV)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• Schedule Performance Index (SPI) = EV / PV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Empirical Throughput Tracking: Completed tasks binned by week strictly within the organization boundary.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Stochastic Control Curves: Monte Carlo 10,000 runs establishing P50, P85, and P95 delivery confidence limits.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389120" cy="32004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REQUIRED INTEGRATED PROJECT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18. Incident Response &amp; Recovery Considerations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Semester 7 PSA | AI Schedule Prediction &amp; Task Management SaaS | Supervisors: Mr. Igila Solomon &amp; Mr. Ibrahim I.A.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250" b="1">
                <a:solidFill>
                  <a:srgbClr val="F43F5E"/>
                </a:solidFill>
              </a:defRPr>
            </a:pPr>
            <a:r>
              <a:t>Security Incident Classification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Tier 1 (High): IDOR cross-tenant access attempt or forged organization identifier.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Tier 2 (High): NoSQL operator injection ($gt, $ne) payload detected in request body.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Tier 3 (Medium): Multiple failed authentication attempts triggering brute-force rate limiter.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Tier 4 (Low): ML microservice connectivity disruption or token mismatch.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250" b="1">
                <a:solidFill>
                  <a:srgbClr val="F59E0B"/>
                </a:solidFill>
              </a:defRPr>
            </a:pPr>
            <a:r>
              <a:t>Containment &amp; Tenant Isolation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Immediate Tenant Suspension: Platform SuperAdmin can suspend a compromised organization via Organization.status = 'suspended'.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Instant Lockout: Middleware immediately rejects all requests from suspended tenants with 403 Forbidden.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Token Invalidation: Refresh tokens invalidated in MongoDB session store upon compromise.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Cryptographic Rotation: Automated re-issuance of JWT secrets and internal RPC tokens.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250" b="1">
                <a:solidFill>
                  <a:srgbClr val="10B981"/>
                </a:solidFill>
              </a:defRPr>
            </a:pPr>
            <a:r>
              <a:t>Disaster Recovery (DR) Protocols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Database Recovery Point Objective (RPO): &lt; 1 hour via automated incremental MongoDB snapshots.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Recovery Time Objective (RTO): &lt; 15 minutes to spin up replica services.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Heuristic ML Fallback: If Python ML service is partitioned, backend seamlessly engages Putnam schedule heuristics.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Audit Trail Preservation: Tamper-evident AuditLog preserved for forensic post-incident review.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389120" cy="32004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REQUIRED INTEGRATED PROJECT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19. Project Closure, Lessons Learned, Limitations &amp;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Semester 7 PSA | AI Schedule Prediction &amp; Task Management SaaS | Supervisors: Mr. Igila Solomon &amp; Mr. Ibrahim I.A.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250" b="1">
                <a:solidFill>
                  <a:srgbClr val="6366F1"/>
                </a:solidFill>
              </a:defRPr>
            </a:pPr>
            <a:r>
              <a:t>Project Closure Sign-off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Formal Acceptance: All 19 Integrated Lifecycle requirements fully engineered, tested, and documented.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100% Problem Statement Fulfillment: Software schedule delay prediction model fully calibrated and verified.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Zero Outstanding Defects: 27/27 automated tests passing across Jest and Pytest suites.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Operational Handoff: Source code, database seeds, and deployment guide finalized.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250" b="1">
                <a:solidFill>
                  <a:srgbClr val="38BDF8"/>
                </a:solidFill>
              </a:defRPr>
            </a:pPr>
            <a:r>
              <a:t>Lessons Learned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Brooks's Law in Practice: Adding developers creates sublinear speedup due to communication overhead.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Multi-Tenant Defense: Security must be enforced at the ORM/query level (withTenantScope), never trusting client input.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Empirical Datasets: Real-world benchmark repositories (China N=499) drastically outperform synthetic data for modeling real-world schedule risk.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250" b="1">
                <a:solidFill>
                  <a:srgbClr val="10B981"/>
                </a:solidFill>
              </a:defRPr>
            </a:pPr>
            <a:r>
              <a:t>Limitations &amp; Recommendations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Limitations: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• Full commercial ISBSG dataset remains behind a $3,000 paywall (addressed via China benchmark &amp; Zenodo defense).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• Cold-start tenant velocity relies on baseline throughput until 3+ sprints are completed.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Recommendations: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• Implement automated tenant transfer learning (fine-tuning models on tenant-specific velocity).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• Integrate Git commit velocity and CI/CD pull request metrics to automatically calibrate story point estimates.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389120" cy="32004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REQUIRED INTEGRATED PROJECT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Innovative Live Demonstration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Semester 7 PSA | AI Schedule Prediction &amp; Task Management SaaS | Supervisors: Mr. Igila Solomon &amp; Mr. Ibrahim I.A.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250" b="1">
                <a:solidFill>
                  <a:srgbClr val="38BDF8"/>
                </a:solidFill>
              </a:defRPr>
            </a:pPr>
            <a:r>
              <a:t>1. Manager What-If Simulator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Interactive stepper &amp; presets (4w, 6w, 8w, 10w, 12w).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Real-time API evaluation (?plannedWeeks=X) without altering database state.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Dynamic Verdict Shift: Notice how verdict flips from High Risk of Slip (+2.5w deficit) to On Schedule (+1.5w buffer) as timeline extends.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One-click 'Save as Target' commits plan to MongoDB.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250" b="1">
                <a:solidFill>
                  <a:srgbClr val="F59E0B"/>
                </a:solidFill>
              </a:defRPr>
            </a:pPr>
            <a:r>
              <a:t>2. SPM Quality Gatekeeping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Engineers see deliverables in dedicated 'My Tasks' view with expected deadlines.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Engineers click 'Request Review' when development concludes.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Members are strictly blocked from self-completing deliverables (403 Forbidden).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Project Managers have exclusive authority to 'Approve' or 'Request Changes'.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250" b="1">
                <a:solidFill>
                  <a:srgbClr val="10B981"/>
                </a:solidFill>
              </a:defRPr>
            </a:pPr>
            <a:r>
              <a:t>3. Multi-Org Workspace Switcher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Single user account supports multiple organization memberships.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Invited member of an enterprise can click '+ Create New Organization'.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Instantly provisions a new company workspace as Admin.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Interactive header dropdown switches active tenant context on the fly with zero logout required.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389120" cy="32004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VERIFIED ACADEMIC SOURCES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Academic References &amp; Dataset Citations (Clickable Links)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Semester 7 PSA | AI Schedule Prediction &amp; Task Management SaaS | Supervisors: Mr. Igila Solomon &amp; Mr. Ibrahim I.A.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Benchmark Datasets &amp; Empirical Provenance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F8FAFC"/>
                </a:solidFill>
              </a:rPr>
              <a:t>• China Dataset (N=499): </a:t>
            </a:r>
            <a:r>
              <a:rPr sz="950" u="sng">
                <a:solidFill>
                  <a:srgbClr val="6366F1"/>
                </a:solidFill>
                <a:hlinkClick r:id="rId2"/>
              </a:rPr>
              <a:t>UCL/Alcalá PROMISE Repository</a:t>
            </a:r>
          </a:p>
          <a:p>
            <a:pPr>
              <a:spcAft>
                <a:spcPts val="500"/>
              </a:spcAft>
            </a:pPr>
            <a:r>
              <a:rPr sz="850">
                <a:solidFill>
                  <a:srgbClr val="94A3B8"/>
                </a:solidFill>
              </a:rPr>
              <a:t>   Canonical benchmark of 499 software engineering projects used in IEEE/ACM schedule prediction literature.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F8FAFC"/>
                </a:solidFill>
              </a:rPr>
              <a:t>• ISBSG Release 10 Open Teaser: </a:t>
            </a:r>
            <a:r>
              <a:rPr sz="950" u="sng">
                <a:solidFill>
                  <a:srgbClr val="6366F1"/>
                </a:solidFill>
                <a:hlinkClick r:id="rId3"/>
              </a:rPr>
              <a:t>Zenodo Open Access (DOI: 10.5281/zenodo.268485)</a:t>
            </a:r>
          </a:p>
          <a:p>
            <a:pPr>
              <a:spcAft>
                <a:spcPts val="500"/>
              </a:spcAft>
            </a:pPr>
            <a:r>
              <a:rPr sz="850">
                <a:solidFill>
                  <a:srgbClr val="94A3B8"/>
                </a:solidFill>
              </a:rPr>
              <a:t>   Official open access sample of the International Software Benchmarking Standards Group dataset.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F8FAFC"/>
                </a:solidFill>
              </a:rPr>
              <a:t>• Desharnais Dataset (N=81): </a:t>
            </a:r>
            <a:r>
              <a:rPr sz="950" u="sng">
                <a:solidFill>
                  <a:srgbClr val="6366F1"/>
                </a:solidFill>
                <a:hlinkClick r:id="rId4"/>
              </a:rPr>
              <a:t>PROMISE Effort Estimation Repository</a:t>
            </a:r>
          </a:p>
          <a:p>
            <a:pPr>
              <a:spcAft>
                <a:spcPts val="500"/>
              </a:spcAft>
            </a:pPr>
            <a:r>
              <a:rPr sz="850">
                <a:solidFill>
                  <a:srgbClr val="94A3B8"/>
                </a:solidFill>
              </a:rPr>
              <a:t>   81 Canadian software projects used for task effort regression and story point estimation.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Industry Standards &amp; Security Specifications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F8FAFC"/>
                </a:solidFill>
              </a:rPr>
              <a:t>• Standish Group CHAOS Report: </a:t>
            </a:r>
            <a:r>
              <a:rPr sz="950" u="sng">
                <a:solidFill>
                  <a:srgbClr val="6366F1"/>
                </a:solidFill>
                <a:hlinkClick r:id="rId5"/>
              </a:rPr>
              <a:t>Standish Research Database</a:t>
            </a:r>
          </a:p>
          <a:p>
            <a:pPr>
              <a:spcAft>
                <a:spcPts val="500"/>
              </a:spcAft>
            </a:pPr>
            <a:r>
              <a:rPr sz="850">
                <a:solidFill>
                  <a:srgbClr val="94A3B8"/>
                </a:solidFill>
              </a:rPr>
              <a:t>   Global empirical benchmark analyzing software project success, failure, and schedule overruns.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F8FAFC"/>
                </a:solidFill>
              </a:rPr>
              <a:t>• OWASP API Security Top 10: </a:t>
            </a:r>
            <a:r>
              <a:rPr sz="950" u="sng">
                <a:solidFill>
                  <a:srgbClr val="6366F1"/>
                </a:solidFill>
                <a:hlinkClick r:id="rId6"/>
              </a:rPr>
              <a:t>API1:2023 - Broken Object Level Authorization</a:t>
            </a:r>
          </a:p>
          <a:p>
            <a:pPr>
              <a:spcAft>
                <a:spcPts val="500"/>
              </a:spcAft>
            </a:pPr>
            <a:r>
              <a:rPr sz="850">
                <a:solidFill>
                  <a:srgbClr val="94A3B8"/>
                </a:solidFill>
              </a:rPr>
              <a:t>   Industry security standard governing multi-tenant IDOR prevention and parameter isolation.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F8FAFC"/>
                </a:solidFill>
              </a:rPr>
              <a:t>• ISO/IEC 25010 Standard: </a:t>
            </a:r>
            <a:r>
              <a:rPr sz="950" u="sng">
                <a:solidFill>
                  <a:srgbClr val="6366F1"/>
                </a:solidFill>
                <a:hlinkClick r:id="rId7"/>
              </a:rPr>
              <a:t>Software Product Quality Requirements (SQuaRE)</a:t>
            </a:r>
          </a:p>
          <a:p>
            <a:pPr>
              <a:spcAft>
                <a:spcPts val="500"/>
              </a:spcAft>
            </a:pPr>
            <a:r>
              <a:rPr sz="850">
                <a:solidFill>
                  <a:srgbClr val="94A3B8"/>
                </a:solidFill>
              </a:rPr>
              <a:t>   International standard for software product quality evaluation and SQA verification.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F8FAFC"/>
                </a:solidFill>
              </a:rPr>
              <a:t>• Putnam Software Sizing Model: </a:t>
            </a:r>
            <a:r>
              <a:rPr sz="950" u="sng">
                <a:solidFill>
                  <a:srgbClr val="6366F1"/>
                </a:solidFill>
                <a:hlinkClick r:id="rId8"/>
              </a:rPr>
              <a:t>IEEE Trans. on Software Engineering (1978)</a:t>
            </a:r>
          </a:p>
          <a:p>
            <a:pPr>
              <a:spcAft>
                <a:spcPts val="500"/>
              </a:spcAft>
            </a:pPr>
            <a:r>
              <a:rPr sz="850">
                <a:solidFill>
                  <a:srgbClr val="94A3B8"/>
                </a:solidFill>
              </a:rPr>
              <a:t>   Empirical macro-level software sizing and schedule estimation model used as heuristic fallback.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389120" cy="320040"/>
          </a:xfrm>
          <a:prstGeom prst="roundRect">
            <a:avLst/>
          </a:prstGeom>
          <a:solidFill>
            <a:srgbClr val="1E1B4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REQUIRED INTEGRATED PROJECT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8FAFC"/>
                </a:solidFill>
              </a:defRPr>
            </a:pPr>
            <a:r>
              <a:t>Conclusion, Academic Evaluation &amp; Defense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Semester 7 PSA | AI Schedule Prediction &amp; Task Management SaaS | Supervisors: Mr. Igila Solomon &amp; Mr. Ibrahim I.A.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250" b="1">
                <a:solidFill>
                  <a:srgbClr val="6366F1"/>
                </a:solidFill>
              </a:defRPr>
            </a:pPr>
            <a:r>
              <a:t>Project Accomplishments Summary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100% Problem Statement Fulfillment: Delivered an end-to-end predictive software schedule adherence platform.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Rigorous Academic Integration: Seamlessly synthesized Software Project Management (SPM), Artificial Intelligence (AI/ML), and Cybersecurity.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Empirically Grounded: Trained and benchmarked on 499 real-world projects from the PROMISE repository with full Zenodo ISBSG defense.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Enterprise-Grade Engineering: Complete with defense-in-depth IDOR prevention, 10,000 Monte Carlo runs, and quality review gatekeeping.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Zero Defects: 27/27 automated tests passing (16 Jest + 11 Pytest) and 0 Next.js compilation errors.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250" b="1">
                <a:solidFill>
                  <a:srgbClr val="10B981"/>
                </a:solidFill>
              </a:defRPr>
            </a:pPr>
            <a:r>
              <a:t>Supervisor Defense Readiness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Demonstration Ready: Active web application running at http://localhost:3000.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Documentation Inventory: 8 comprehensive markdown volumes in /docs: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• project-charter.md | requirements.md | wbs.md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• schedule.md | risk-register.md | quality-plan.md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  • model-evaluation.md | limitations.md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Ready for oral defense before Mr. Igila Solomon (Lecturer) and Mr. Ibrahim I.A.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• Presentation Artifact: PSA_Integrated_Project_Lifecycle.pptx saved in project root and /docs.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